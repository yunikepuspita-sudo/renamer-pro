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A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8A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95360" y="0"/>
            <a:ext cx="3593592" cy="6858000"/>
          </a:xfrm>
          <a:prstGeom prst="rect">
            <a:avLst/>
          </a:prstGeom>
          <a:solidFill>
            <a:srgbClr val="14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FA3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7"/>
                </a:solidFill>
                <a:latin typeface="Calibri"/>
              </a:rPr>
              <a:t>KPU PROVINSI JAWA BARAT  •  TAHUN ANGGARAN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6070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0" i="0">
                <a:solidFill>
                  <a:srgbClr val="FFFFFF"/>
                </a:solidFill>
                <a:latin typeface="Calibri"/>
              </a:rPr>
              <a:t>Usulan Optimalisasi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400" b="1" i="0">
                <a:solidFill>
                  <a:srgbClr val="FFFFFF"/>
                </a:solidFill>
                <a:latin typeface="Calibri"/>
              </a:rPr>
              <a:t>HNP Rp 4,28 Miliar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3383280"/>
            <a:ext cx="10424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CFDCEA"/>
                </a:solidFill>
                <a:latin typeface="Calibri"/>
              </a:rPr>
              <a:t>Penguatan layanan, tata kelola, dan transformasi digital back office melalui ekosistem aplikasi KPU Jabar — SAE PISAN, SIPANDU, SIPLENO, RANCAGÉ, PUSAKA &amp; SEHAT.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709160"/>
            <a:ext cx="1673351" cy="475488"/>
          </a:xfrm>
          <a:prstGeom prst="roundRect">
            <a:avLst>
              <a:gd name="adj" fmla="val 4500"/>
            </a:avLst>
          </a:prstGeom>
          <a:solidFill>
            <a:srgbClr val="14365C"/>
          </a:solidFill>
          <a:ln w="12700">
            <a:solidFill>
              <a:srgbClr val="E8A3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4709160"/>
            <a:ext cx="1673351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Rp 4.280.717.000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87751" y="4709160"/>
            <a:ext cx="1961388" cy="475488"/>
          </a:xfrm>
          <a:prstGeom prst="roundRect">
            <a:avLst>
              <a:gd name="adj" fmla="val 4500"/>
            </a:avLst>
          </a:prstGeom>
          <a:solidFill>
            <a:srgbClr val="14365C"/>
          </a:solidFill>
          <a:ln w="12700">
            <a:solidFill>
              <a:srgbClr val="1FA3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87751" y="4709160"/>
            <a:ext cx="19613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7 Kelompok Kegiatan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32019" y="4709160"/>
            <a:ext cx="1865376" cy="475488"/>
          </a:xfrm>
          <a:prstGeom prst="roundRect">
            <a:avLst>
              <a:gd name="adj" fmla="val 4500"/>
            </a:avLst>
          </a:prstGeom>
          <a:solidFill>
            <a:srgbClr val="14365C"/>
          </a:solidFill>
          <a:ln w="12700">
            <a:solidFill>
              <a:srgbClr val="2E6F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32019" y="4709160"/>
            <a:ext cx="1865376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6 Aplikasi Digital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0275" y="4709160"/>
            <a:ext cx="2633472" cy="475488"/>
          </a:xfrm>
          <a:prstGeom prst="roundRect">
            <a:avLst>
              <a:gd name="adj" fmla="val 4500"/>
            </a:avLst>
          </a:prstGeom>
          <a:solidFill>
            <a:srgbClr val="14365C"/>
          </a:solidFill>
          <a:ln w="12700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0275" y="4709160"/>
            <a:ext cx="263347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Eksekusi Bertahap oleh KPA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8978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9DB4CC"/>
                </a:solidFill>
                <a:latin typeface="Calibri"/>
              </a:rPr>
              <a:t>Dimohonkan persetujuan prinsip &amp; percepatan pelaksanaan  |  Demo &amp; dashboard back office terlampir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A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A317"/>
                </a:solidFill>
                <a:latin typeface="Calibri"/>
              </a:rPr>
              <a:t>RINGKASAN EKSEKUTIF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E2A47"/>
                </a:solidFill>
                <a:latin typeface="Calibri"/>
              </a:rPr>
              <a:t>Inti Usulan: Persetujuan untuk Segera Dieksekusi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89888"/>
            <a:ext cx="1371600" cy="38100"/>
          </a:xfrm>
          <a:prstGeom prst="rect">
            <a:avLst/>
          </a:prstGeom>
          <a:solidFill>
            <a:srgbClr val="E8A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3611880" cy="14173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91440" cy="1417320"/>
          </a:xfrm>
          <a:prstGeom prst="rect">
            <a:avLst/>
          </a:prstGeom>
          <a:solidFill>
            <a:srgbClr val="E8A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828800"/>
            <a:ext cx="3200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0E2A47"/>
                </a:solidFill>
                <a:latin typeface="Calibri"/>
              </a:rPr>
              <a:t>Rp 4.280.717.000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32004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6B7A"/>
                </a:solidFill>
                <a:latin typeface="Calibri"/>
              </a:rPr>
              <a:t>Total kebutuhan kegiatan 7–13 HNP TA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1688" y="1691640"/>
            <a:ext cx="3611880" cy="14173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61688" y="1691640"/>
            <a:ext cx="91440" cy="1417320"/>
          </a:xfrm>
          <a:prstGeom prst="rect">
            <a:avLst/>
          </a:prstGeom>
          <a:solidFill>
            <a:srgbClr val="1FA3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0288" y="1828800"/>
            <a:ext cx="3200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0E2A47"/>
                </a:solidFill>
                <a:latin typeface="Calibri"/>
              </a:rP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8" y="2468880"/>
            <a:ext cx="32004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6B7A"/>
                </a:solidFill>
                <a:latin typeface="Calibri"/>
              </a:rPr>
              <a:t>Kelompok kegiatan: layanan, operasional, digital &amp; knowledge management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74736" y="1691640"/>
            <a:ext cx="3611880" cy="14173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74736" y="1691640"/>
            <a:ext cx="91440" cy="141732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03336" y="1828800"/>
            <a:ext cx="3200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0E2A47"/>
                </a:solidFill>
                <a:latin typeface="Calibri"/>
              </a:rPr>
              <a:t>Bertahap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03336" y="2468880"/>
            <a:ext cx="32004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6B7A"/>
                </a:solidFill>
                <a:latin typeface="Calibri"/>
              </a:rPr>
              <a:t>Eksekusi terkendali di bawah kepemimpinan KPA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37560"/>
            <a:ext cx="11091672" cy="2971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5204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E2A47"/>
                </a:solidFill>
                <a:latin typeface="Calibri"/>
              </a:rPr>
              <a:t>Yang kami mohonkan hari ini bukan kegiatan baru — melainkan persetujuan atas kebutuhan riil yang sudah terpetakan, terukur, dan ber-output jelas.</a:t>
            </a:r>
          </a:p>
        </p:txBody>
      </p:sp>
      <p:sp>
        <p:nvSpPr>
          <p:cNvPr id="20" name="Oval 19"/>
          <p:cNvSpPr/>
          <p:nvPr/>
        </p:nvSpPr>
        <p:spPr>
          <a:xfrm>
            <a:off x="868680" y="4160520"/>
            <a:ext cx="146304" cy="146304"/>
          </a:xfrm>
          <a:prstGeom prst="ellipse">
            <a:avLst/>
          </a:prstGeom>
          <a:solidFill>
            <a:srgbClr val="E8A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078224"/>
            <a:ext cx="49377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E2A47"/>
                </a:solidFill>
                <a:latin typeface="Calibri"/>
              </a:rPr>
              <a:t>Kebutuhan sudah terinci  </a:t>
            </a:r>
            <a:r>
              <a:rPr sz="100" b="0" i="0">
                <a:solidFill>
                  <a:srgbClr val="0E2A47"/>
                </a:solidFill>
                <a:latin typeface="Calibri"/>
              </a:rPr>
              <a:t/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C6B7A"/>
                </a:solidFill>
                <a:latin typeface="Calibri"/>
              </a:rPr>
              <a:t>RAB lengkap sampai volume, satuan, frekuensi, harga satuan, hingga grand total Rp4.280.717.000.</a:t>
            </a:r>
          </a:p>
        </p:txBody>
      </p:sp>
      <p:sp>
        <p:nvSpPr>
          <p:cNvPr id="22" name="Oval 21"/>
          <p:cNvSpPr/>
          <p:nvPr/>
        </p:nvSpPr>
        <p:spPr>
          <a:xfrm>
            <a:off x="6263640" y="4160520"/>
            <a:ext cx="146304" cy="146304"/>
          </a:xfrm>
          <a:prstGeom prst="ellipse">
            <a:avLst/>
          </a:prstGeom>
          <a:solidFill>
            <a:srgbClr val="E8A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4078224"/>
            <a:ext cx="49377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E2A47"/>
                </a:solidFill>
                <a:latin typeface="Calibri"/>
              </a:rPr>
              <a:t>Banyak item layanan langsung  </a:t>
            </a:r>
            <a:r>
              <a:rPr sz="100" b="0" i="0">
                <a:solidFill>
                  <a:srgbClr val="0E2A47"/>
                </a:solidFill>
                <a:latin typeface="Calibri"/>
              </a:rPr>
              <a:t/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C6B7A"/>
                </a:solidFill>
                <a:latin typeface="Calibri"/>
              </a:rPr>
              <a:t>Sosdiklih, FGD, rakor, pemeliharaan kendaraan, helpdesk &amp; dukungan sistem berdampak langsung pada output kerja.</a:t>
            </a:r>
          </a:p>
        </p:txBody>
      </p:sp>
      <p:sp>
        <p:nvSpPr>
          <p:cNvPr id="24" name="Oval 23"/>
          <p:cNvSpPr/>
          <p:nvPr/>
        </p:nvSpPr>
        <p:spPr>
          <a:xfrm>
            <a:off x="868680" y="5212080"/>
            <a:ext cx="146304" cy="146304"/>
          </a:xfrm>
          <a:prstGeom prst="ellipse">
            <a:avLst/>
          </a:prstGeom>
          <a:solidFill>
            <a:srgbClr val="E8A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129784"/>
            <a:ext cx="49377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E2A47"/>
                </a:solidFill>
                <a:latin typeface="Calibri"/>
              </a:rPr>
              <a:t>KPA punya ruang kendali  </a:t>
            </a:r>
            <a:r>
              <a:rPr sz="100" b="0" i="0">
                <a:solidFill>
                  <a:srgbClr val="0E2A47"/>
                </a:solidFill>
                <a:latin typeface="Calibri"/>
              </a:rPr>
              <a:t/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C6B7A"/>
                </a:solidFill>
                <a:latin typeface="Calibri"/>
              </a:rPr>
              <a:t>KPA memimpin prioritisasi, pengemasan tahapan, dan pengendalian output sambil menata administrasi lanjutan.</a:t>
            </a:r>
          </a:p>
        </p:txBody>
      </p:sp>
      <p:sp>
        <p:nvSpPr>
          <p:cNvPr id="26" name="Oval 25"/>
          <p:cNvSpPr/>
          <p:nvPr/>
        </p:nvSpPr>
        <p:spPr>
          <a:xfrm>
            <a:off x="6263640" y="5212080"/>
            <a:ext cx="146304" cy="146304"/>
          </a:xfrm>
          <a:prstGeom prst="ellipse">
            <a:avLst/>
          </a:prstGeom>
          <a:solidFill>
            <a:srgbClr val="E8A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37960" y="5129784"/>
            <a:ext cx="49377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E2A47"/>
                </a:solidFill>
                <a:latin typeface="Calibri"/>
              </a:rPr>
              <a:t>Bukan menunggu sempurna  </a:t>
            </a:r>
            <a:r>
              <a:rPr sz="100" b="0" i="0">
                <a:solidFill>
                  <a:srgbClr val="0E2A47"/>
                </a:solidFill>
                <a:latin typeface="Calibri"/>
              </a:rPr>
              <a:t/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C6B7A"/>
                </a:solidFill>
                <a:latin typeface="Calibri"/>
              </a:rPr>
              <a:t>Menunda berarti layanan terhenti, sarpras menurun, dan momentum transformasi digital terlewat.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0" y="6556248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C3D3E3"/>
                </a:solidFill>
                <a:latin typeface="Calibri"/>
              </a:rPr>
              <a:t>KPU Provinsi Jawa Barat  •  Usulan Optimalisasi HNP TA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11535" y="6556248"/>
            <a:ext cx="8686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E8A317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A3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FA38C"/>
                </a:solidFill>
                <a:latin typeface="Calibri"/>
              </a:rPr>
              <a:t>KOMPOSISI ANGGARAN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E2A47"/>
                </a:solidFill>
                <a:latin typeface="Calibri"/>
              </a:rPr>
              <a:t>7 Kelompok Kegiatan — Rp 4.280.717.000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89888"/>
            <a:ext cx="1371600" cy="38100"/>
          </a:xfrm>
          <a:prstGeom prst="rect">
            <a:avLst/>
          </a:prstGeom>
          <a:solidFill>
            <a:srgbClr val="1FA3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1672" cy="65836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27632"/>
            <a:ext cx="91440" cy="658368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49808" y="1773936"/>
            <a:ext cx="566928" cy="384048"/>
          </a:xfrm>
          <a:prstGeom prst="round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773936"/>
            <a:ext cx="56692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Keg 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1700784"/>
            <a:ext cx="3657600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E2A47"/>
                </a:solidFill>
                <a:latin typeface="Calibri"/>
              </a:rPr>
              <a:t>Knowledge Management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700784"/>
            <a:ext cx="2331720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6C5CE7"/>
                </a:solidFill>
                <a:latin typeface="Calibri"/>
              </a:rPr>
              <a:t>Rp 1.705.980.000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5240" y="1700784"/>
            <a:ext cx="3886200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C6B7A"/>
                </a:solidFill>
                <a:latin typeface="Calibri"/>
              </a:rPr>
              <a:t>Memori institusi: dokumentasi, repositori, digitalisasi arsip, multimedia &amp; film pembelajaran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350008"/>
            <a:ext cx="11091672" cy="65836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350008"/>
            <a:ext cx="91440" cy="658368"/>
          </a:xfrm>
          <a:prstGeom prst="rect">
            <a:avLst/>
          </a:prstGeom>
          <a:solidFill>
            <a:srgbClr val="1FA3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49808" y="2496312"/>
            <a:ext cx="566928" cy="384048"/>
          </a:xfrm>
          <a:prstGeom prst="roundRect">
            <a:avLst/>
          </a:prstGeom>
          <a:solidFill>
            <a:srgbClr val="1FA3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2496312"/>
            <a:ext cx="56692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Keg 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2423160"/>
            <a:ext cx="3657600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E2A47"/>
                </a:solidFill>
                <a:latin typeface="Calibri"/>
              </a:rPr>
              <a:t>Sosdiklih 27 Kab/Kota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423160"/>
            <a:ext cx="2331720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FA38C"/>
                </a:solidFill>
                <a:latin typeface="Calibri"/>
              </a:rPr>
              <a:t>Rp 828.090.000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2423160"/>
            <a:ext cx="3886200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C6B7A"/>
                </a:solidFill>
                <a:latin typeface="Calibri"/>
              </a:rPr>
              <a:t>Pendidikan pemilih berkelanjutan di seluruh kab/kota Jawa Barat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072384"/>
            <a:ext cx="11091672" cy="65836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072384"/>
            <a:ext cx="91440" cy="658368"/>
          </a:xfrm>
          <a:prstGeom prst="rect">
            <a:avLst/>
          </a:prstGeom>
          <a:solidFill>
            <a:srgbClr val="E8A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49808" y="3218688"/>
            <a:ext cx="566928" cy="384048"/>
          </a:xfrm>
          <a:prstGeom prst="roundRect">
            <a:avLst/>
          </a:prstGeom>
          <a:solidFill>
            <a:srgbClr val="E8A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3218688"/>
            <a:ext cx="56692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Keg 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3145536"/>
            <a:ext cx="3657600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E2A47"/>
                </a:solidFill>
                <a:latin typeface="Calibri"/>
              </a:rPr>
              <a:t>Pemeliharaan Kendaraan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80" y="3145536"/>
            <a:ext cx="2331720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8A317"/>
                </a:solidFill>
                <a:latin typeface="Calibri"/>
              </a:rPr>
              <a:t>Rp 641.187.000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35240" y="3145536"/>
            <a:ext cx="3886200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C6B7A"/>
                </a:solidFill>
                <a:latin typeface="Calibri"/>
              </a:rPr>
              <a:t>Mobilitas pimpinan, koordinasi lapangan &amp; fasilitasi kegiatan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3794760"/>
            <a:ext cx="11091672" cy="65836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3794760"/>
            <a:ext cx="91440" cy="658368"/>
          </a:xfrm>
          <a:prstGeom prst="rect">
            <a:avLst/>
          </a:prstGeom>
          <a:solidFill>
            <a:srgbClr val="2E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49808" y="3941064"/>
            <a:ext cx="566928" cy="384048"/>
          </a:xfrm>
          <a:prstGeom prst="roundRect">
            <a:avLst/>
          </a:prstGeom>
          <a:solidFill>
            <a:srgbClr val="2E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9808" y="3941064"/>
            <a:ext cx="56692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Keg 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3040" y="3867912"/>
            <a:ext cx="3657600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E2A47"/>
                </a:solidFill>
                <a:latin typeface="Calibri"/>
              </a:rPr>
              <a:t>Integrasi Sistem Informasi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80" y="3867912"/>
            <a:ext cx="2331720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E6FB3"/>
                </a:solidFill>
                <a:latin typeface="Calibri"/>
              </a:rPr>
              <a:t>Rp 500.000.000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35240" y="3867912"/>
            <a:ext cx="3886200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C6B7A"/>
                </a:solidFill>
                <a:latin typeface="Calibri"/>
              </a:rPr>
              <a:t>e-Surat/RANCAGÉ, e-SPPD/SIPANDU, e-Presensi/SAE PISAN, e-Pleno/SIPLENO, dashboard &amp; server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4517136"/>
            <a:ext cx="11091672" cy="65836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48640" y="4517136"/>
            <a:ext cx="91440" cy="658368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49808" y="4663440"/>
            <a:ext cx="566928" cy="384048"/>
          </a:xfrm>
          <a:prstGeom prst="round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4663440"/>
            <a:ext cx="56692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Keg 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63040" y="4590288"/>
            <a:ext cx="3657600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E2A47"/>
                </a:solidFill>
                <a:latin typeface="Calibri"/>
              </a:rPr>
              <a:t>Rapat Koordinasi Divisi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80" y="4590288"/>
            <a:ext cx="2331720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E9E5B"/>
                </a:solidFill>
                <a:latin typeface="Calibri"/>
              </a:rPr>
              <a:t>Rp 400.000.000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4590288"/>
            <a:ext cx="3886200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C6B7A"/>
                </a:solidFill>
                <a:latin typeface="Calibri"/>
              </a:rPr>
              <a:t>Koordinasi kelembagaan lintas divisi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5239512"/>
            <a:ext cx="11091672" cy="65836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48640" y="5239512"/>
            <a:ext cx="91440" cy="658368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749808" y="5385816"/>
            <a:ext cx="566928" cy="384048"/>
          </a:xfrm>
          <a:prstGeom prst="round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9808" y="5385816"/>
            <a:ext cx="56692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Keg 8+11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463040" y="5312664"/>
            <a:ext cx="3657600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E2A47"/>
                </a:solidFill>
                <a:latin typeface="Calibri"/>
              </a:rPr>
              <a:t>FGD Provinsi &amp; Jasa Profesi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5312664"/>
            <a:ext cx="2331720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D64545"/>
                </a:solidFill>
                <a:latin typeface="Calibri"/>
              </a:rPr>
              <a:t>Rp 205.460.000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5312664"/>
            <a:ext cx="3886200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C6B7A"/>
                </a:solidFill>
                <a:latin typeface="Calibri"/>
              </a:rPr>
              <a:t>FGD tingkat provinsi &amp; dukungan jasa profesi/narasumber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5961888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5C6B7A"/>
                </a:solidFill>
                <a:latin typeface="Calibri"/>
              </a:rPr>
              <a:t>Komposisi menyeimbangkan front office, back office, digitalisasi, dan memori kelembagaan — tidak terkonsentrasi pada satu sisi.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6556248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C3D3E3"/>
                </a:solidFill>
                <a:latin typeface="Calibri"/>
              </a:rPr>
              <a:t>KPU Provinsi Jawa Barat  •  Usulan Optimalisasi HNP TA 2026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911535" y="6556248"/>
            <a:ext cx="8686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E8A317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Calibri"/>
              </a:rPr>
              <a:t>NILAI STRATEGIS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E2A47"/>
                </a:solidFill>
                <a:latin typeface="Calibri"/>
              </a:rPr>
              <a:t>Empat Manfaat yang Langsung Dirasakan Organisasi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89888"/>
            <a:ext cx="1371600" cy="3810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367528" cy="221284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45920"/>
            <a:ext cx="5367528" cy="91440"/>
          </a:xfrm>
          <a:prstGeom prst="rect">
            <a:avLst/>
          </a:prstGeom>
          <a:solidFill>
            <a:srgbClr val="1FA3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4672" y="1920240"/>
            <a:ext cx="603504" cy="603504"/>
          </a:xfrm>
          <a:prstGeom prst="ellipse">
            <a:avLst/>
          </a:prstGeom>
          <a:solidFill>
            <a:srgbClr val="1FA3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1920240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938528"/>
            <a:ext cx="4251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E2A47"/>
                </a:solidFill>
                <a:latin typeface="Calibri"/>
              </a:rPr>
              <a:t>Kesinambungan Layanan Demokrasi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670048"/>
            <a:ext cx="48463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6B7A"/>
                </a:solidFill>
                <a:latin typeface="Calibri"/>
              </a:rPr>
              <a:t>Sosdiklih 27 kab/kota (Rp828,09 jt) &amp; FGD provinsi (Rp120,26 jt) menjaga pendidikan pemilih tetap berjalan di luar tahapan besar — eksistensi KPU tetap terlihat &amp; terukur.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2784" y="1645920"/>
            <a:ext cx="5367528" cy="221284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72784" y="1645920"/>
            <a:ext cx="5367528" cy="91440"/>
          </a:xfrm>
          <a:prstGeom prst="rect">
            <a:avLst/>
          </a:prstGeom>
          <a:solidFill>
            <a:srgbClr val="E8A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528816" y="1920240"/>
            <a:ext cx="603504" cy="603504"/>
          </a:xfrm>
          <a:prstGeom prst="ellipse">
            <a:avLst/>
          </a:prstGeom>
          <a:solidFill>
            <a:srgbClr val="E8A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920240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78624" y="1938528"/>
            <a:ext cx="4251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E2A47"/>
                </a:solidFill>
                <a:latin typeface="Calibri"/>
              </a:rPr>
              <a:t>Menutup Kebutuhan Operasional Nyata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47104" y="2670048"/>
            <a:ext cx="48463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6B7A"/>
                </a:solidFill>
                <a:latin typeface="Calibri"/>
              </a:rPr>
              <a:t>Pemeliharaan kendaraan dinas (Rp641,19 jt) &amp; jasa profesi (Rp85,2 jt) mendukung mobilitas pimpinan, koordinasi lapangan, dan fasilitasi yang sulit digantikan pola daring.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23360"/>
            <a:ext cx="5367528" cy="221284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4023360"/>
            <a:ext cx="5367528" cy="91440"/>
          </a:xfrm>
          <a:prstGeom prst="rect">
            <a:avLst/>
          </a:prstGeom>
          <a:solidFill>
            <a:srgbClr val="2E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04672" y="4297680"/>
            <a:ext cx="603504" cy="603504"/>
          </a:xfrm>
          <a:prstGeom prst="ellipse">
            <a:avLst/>
          </a:prstGeom>
          <a:solidFill>
            <a:srgbClr val="2E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" y="4297680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315968"/>
            <a:ext cx="4251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E2A47"/>
                </a:solidFill>
                <a:latin typeface="Calibri"/>
              </a:rPr>
              <a:t>Mengurangi Inefisiensi Manual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047488"/>
            <a:ext cx="48463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6B7A"/>
                </a:solidFill>
                <a:latin typeface="Calibri"/>
              </a:rPr>
              <a:t>Integrasi sistem informasi (Rp500 jt) membangun e-Surat, e-Arsip, e-SPPD, dashboard kinerja-anggaran, inventaris QR &amp; dukungan server — administrasi lebih cepat, terdokumentasi, mudah diawasi.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72784" y="4023360"/>
            <a:ext cx="5367528" cy="221284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72784" y="4023360"/>
            <a:ext cx="5367528" cy="9144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528816" y="4297680"/>
            <a:ext cx="603504" cy="603504"/>
          </a:xfrm>
          <a:prstGeom prst="ellipse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28816" y="4297680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78624" y="4315968"/>
            <a:ext cx="4251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E2A47"/>
                </a:solidFill>
                <a:latin typeface="Calibri"/>
              </a:rPr>
              <a:t>Menyelamatkan Pengetahuan Kelembagaan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047488"/>
            <a:ext cx="48463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6B7A"/>
                </a:solidFill>
                <a:latin typeface="Calibri"/>
              </a:rPr>
              <a:t>Knowledge management (Rp1,706 M) mengamankan dokumentasi, repositori, digitalisasi arsip, forum praktik baik, produksi multimedia, hingga film pembelajaran kelembagaan.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56248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C3D3E3"/>
                </a:solidFill>
                <a:latin typeface="Calibri"/>
              </a:rPr>
              <a:t>KPU Provinsi Jawa Barat  •  Usulan Optimalisasi HNP TA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11535" y="6556248"/>
            <a:ext cx="8686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E8A317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A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D64545"/>
                </a:solidFill>
                <a:latin typeface="Calibri"/>
              </a:rPr>
              <a:t>URGENSI BACK OFFICE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Tanpa Digitalisasi, Back Office Jadi Titik Lemah Tata Kelola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371600" cy="38100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3566160" cy="2057400"/>
          </a:xfrm>
          <a:prstGeom prst="roundRect">
            <a:avLst>
              <a:gd name="adj" fmla="val 4500"/>
            </a:avLst>
          </a:prstGeom>
          <a:solidFill>
            <a:srgbClr val="14365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04672" y="2020824"/>
            <a:ext cx="384048" cy="384048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20208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532888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Proses Manual &amp; Lambat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3063240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B9CBDD"/>
                </a:solidFill>
                <a:latin typeface="Calibri"/>
              </a:rPr>
              <a:t>KAK, TOR, Nota Dinas, RAB, SPPD &amp; notulen disusun manual — berhari-hari, hasil tidak konsisten antar unit.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783080"/>
            <a:ext cx="3566160" cy="2057400"/>
          </a:xfrm>
          <a:prstGeom prst="roundRect">
            <a:avLst>
              <a:gd name="adj" fmla="val 4500"/>
            </a:avLst>
          </a:prstGeom>
          <a:solidFill>
            <a:srgbClr val="14365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99432" y="2020824"/>
            <a:ext cx="384048" cy="384048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9432" y="20208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2" y="2532888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Risiko Temuan BPK/Inspektorat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9432" y="3063240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B9CBDD"/>
                </a:solidFill>
                <a:latin typeface="Calibri"/>
              </a:rPr>
              <a:t>Anggaran berpotensi tidak sesuai SBM, duplikasi klaim sulit terdeteksi, dan jejak audit lemah.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783080"/>
            <a:ext cx="3566160" cy="2057400"/>
          </a:xfrm>
          <a:prstGeom prst="roundRect">
            <a:avLst>
              <a:gd name="adj" fmla="val 4500"/>
            </a:avLst>
          </a:prstGeom>
          <a:solidFill>
            <a:srgbClr val="14365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94192" y="2020824"/>
            <a:ext cx="384048" cy="384048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94192" y="20208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2532888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Persetujuan Berbasis Kertas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94192" y="3063240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B9CBDD"/>
                </a:solidFill>
                <a:latin typeface="Calibri"/>
              </a:rPr>
              <a:t>Alur berjenjang lambat, bergantung tatap muka &amp; dokumen fisik, rawan hilang.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023360"/>
            <a:ext cx="3566160" cy="2057400"/>
          </a:xfrm>
          <a:prstGeom prst="roundRect">
            <a:avLst>
              <a:gd name="adj" fmla="val 4500"/>
            </a:avLst>
          </a:prstGeom>
          <a:solidFill>
            <a:srgbClr val="14365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261104"/>
            <a:ext cx="384048" cy="384048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26110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4773168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Monitoring Tidak Real-Time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5303520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B9CBDD"/>
                </a:solidFill>
                <a:latin typeface="Calibri"/>
              </a:rPr>
              <a:t>Rekap serapan anggaran &amp; kehadiran manual — pimpinan tak punya data tepat waktu untuk keputusan.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43400" y="4023360"/>
            <a:ext cx="3566160" cy="2057400"/>
          </a:xfrm>
          <a:prstGeom prst="roundRect">
            <a:avLst>
              <a:gd name="adj" fmla="val 4500"/>
            </a:avLst>
          </a:prstGeom>
          <a:solidFill>
            <a:srgbClr val="14365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599432" y="4261104"/>
            <a:ext cx="384048" cy="384048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99432" y="426110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99432" y="4773168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Memori Institusi Hilang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99432" y="5303520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B9CBDD"/>
                </a:solidFill>
                <a:latin typeface="Calibri"/>
              </a:rPr>
              <a:t>Pengetahuan &amp; keputusan tersebar tanpa repositori — hilang setelah tahapan besar selesai.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38160" y="4023360"/>
            <a:ext cx="3566160" cy="2057400"/>
          </a:xfrm>
          <a:prstGeom prst="roundRect">
            <a:avLst>
              <a:gd name="adj" fmla="val 4500"/>
            </a:avLst>
          </a:prstGeom>
          <a:solidFill>
            <a:srgbClr val="14365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394192" y="4261104"/>
            <a:ext cx="384048" cy="384048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94192" y="426110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94192" y="4773168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Kesejahteraan Pegawai Tak Terpantau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94192" y="5303520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B9CBDD"/>
                </a:solidFill>
                <a:latin typeface="Calibri"/>
              </a:rPr>
              <a:t>Beban lembur tinggi saat tahapan; burnout &amp; kesehatan tidak terpantau dalam satu sistem.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56248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C3D3E3"/>
                </a:solidFill>
                <a:latin typeface="Calibri"/>
              </a:rPr>
              <a:t>KPU Provinsi Jawa Barat  •  Usulan Optimalisasi HNP TA 2026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11535" y="6556248"/>
            <a:ext cx="8686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E8A317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E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6FB3"/>
                </a:solidFill>
                <a:latin typeface="Calibri"/>
              </a:rPr>
              <a:t>SOLUSI — KEGIATAN 12 &amp;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E2A47"/>
                </a:solidFill>
                <a:latin typeface="Calibri"/>
              </a:rPr>
              <a:t>Ekosistem Digital KPU Jabar: 6 Aplikasi Siap Pakai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89888"/>
            <a:ext cx="1371600" cy="38100"/>
          </a:xfrm>
          <a:prstGeom prst="rect">
            <a:avLst/>
          </a:prstGeom>
          <a:solidFill>
            <a:srgbClr val="2E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3566160" cy="21488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627632"/>
            <a:ext cx="3566160" cy="566928"/>
          </a:xfrm>
          <a:prstGeom prst="roundRect">
            <a:avLst/>
          </a:prstGeom>
          <a:solidFill>
            <a:srgbClr val="E8A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911096"/>
            <a:ext cx="3566160" cy="283464"/>
          </a:xfrm>
          <a:prstGeom prst="rect">
            <a:avLst/>
          </a:prstGeom>
          <a:solidFill>
            <a:srgbClr val="E8A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645920"/>
            <a:ext cx="3200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SAE PISAN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3154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E8A317"/>
                </a:solidFill>
                <a:latin typeface="Calibri"/>
              </a:rPr>
              <a:t>e-Presensi Kegiatan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651760"/>
            <a:ext cx="3154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C6B7A"/>
                </a:solidFill>
                <a:latin typeface="Calibri"/>
              </a:rPr>
              <a:t>QR check-in real-time, anti titip-absen, rekap otomatis (Rakor/Bimtek/FGD).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627632"/>
            <a:ext cx="3566160" cy="21488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43400" y="1627632"/>
            <a:ext cx="3566160" cy="566928"/>
          </a:xfrm>
          <a:prstGeom prst="roundRect">
            <a:avLst/>
          </a:prstGeom>
          <a:solidFill>
            <a:srgbClr val="1FA3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43400" y="1911096"/>
            <a:ext cx="3566160" cy="283464"/>
          </a:xfrm>
          <a:prstGeom prst="rect">
            <a:avLst/>
          </a:prstGeom>
          <a:solidFill>
            <a:srgbClr val="1FA3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1645920"/>
            <a:ext cx="3200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SIPANDU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286000"/>
            <a:ext cx="3154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FA38C"/>
                </a:solidFill>
                <a:latin typeface="Calibri"/>
              </a:rPr>
              <a:t>e-SPPD Perjalanan Dinas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651760"/>
            <a:ext cx="3154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C6B7A"/>
                </a:solidFill>
                <a:latin typeface="Calibri"/>
              </a:rPr>
              <a:t>Pengajuan→SPJ digital, SBM otomatis, audit trail, dashboard serapan.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1627632"/>
            <a:ext cx="3566160" cy="21488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138160" y="1627632"/>
            <a:ext cx="3566160" cy="566928"/>
          </a:xfrm>
          <a:prstGeom prst="roundRect">
            <a:avLst/>
          </a:prstGeom>
          <a:solidFill>
            <a:srgbClr val="2E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38160" y="1911096"/>
            <a:ext cx="3566160" cy="283464"/>
          </a:xfrm>
          <a:prstGeom prst="rect">
            <a:avLst/>
          </a:prstGeom>
          <a:solidFill>
            <a:srgbClr val="2E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60" y="1645920"/>
            <a:ext cx="3200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SIPLENO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2286000"/>
            <a:ext cx="3154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6FB3"/>
                </a:solidFill>
                <a:latin typeface="Calibri"/>
              </a:rPr>
              <a:t>e-Pleno Rapat Pleno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2651760"/>
            <a:ext cx="3154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C6B7A"/>
                </a:solidFill>
                <a:latin typeface="Calibri"/>
              </a:rPr>
              <a:t>Undangan→arsip: presensi QR, notulensi AI, voting, BA otomatis, TTE.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959352"/>
            <a:ext cx="3566160" cy="21488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48640" y="3959352"/>
            <a:ext cx="3566160" cy="566928"/>
          </a:xfrm>
          <a:prstGeom prst="round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4242816"/>
            <a:ext cx="3566160" cy="283464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3977640"/>
            <a:ext cx="3200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RANCAGÉ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617720"/>
            <a:ext cx="3154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6C5CE7"/>
                </a:solidFill>
                <a:latin typeface="Calibri"/>
              </a:rPr>
              <a:t>AI Planning Doc Factory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4983480"/>
            <a:ext cx="3154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C6B7A"/>
                </a:solidFill>
                <a:latin typeface="Calibri"/>
              </a:rPr>
              <a:t>Satu form → ND, KAK, TOR, RAB; validasi SBM &amp; persetujuan elektronik.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43400" y="3959352"/>
            <a:ext cx="3566160" cy="21488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343400" y="3959352"/>
            <a:ext cx="3566160" cy="566928"/>
          </a:xfrm>
          <a:prstGeom prst="round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43400" y="4242816"/>
            <a:ext cx="3566160" cy="283464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0" y="3977640"/>
            <a:ext cx="3200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PUSAKA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0" y="4617720"/>
            <a:ext cx="3154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alibri"/>
              </a:rPr>
              <a:t>Knowledge Management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4983480"/>
            <a:ext cx="3154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C6B7A"/>
                </a:solidFill>
                <a:latin typeface="Calibri"/>
              </a:rPr>
              <a:t>Perpustakaan digital literasi demokrasi, multi-platform, update OTA.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38160" y="3959352"/>
            <a:ext cx="3566160" cy="21488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138160" y="3959352"/>
            <a:ext cx="3566160" cy="566928"/>
          </a:xfrm>
          <a:prstGeom prst="round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138160" y="4242816"/>
            <a:ext cx="3566160" cy="283464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66760" y="3977640"/>
            <a:ext cx="3200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SEHAT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66760" y="4617720"/>
            <a:ext cx="3154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D64545"/>
                </a:solidFill>
                <a:latin typeface="Calibri"/>
              </a:rPr>
              <a:t>Health &amp; Telemedicine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66760" y="4983480"/>
            <a:ext cx="3154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C6B7A"/>
                </a:solidFill>
                <a:latin typeface="Calibri"/>
              </a:rPr>
              <a:t>Kesejahteraan pegawai: skrining, deteksi burnout, analitik anonim.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1480" y="6556248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C3D3E3"/>
                </a:solidFill>
                <a:latin typeface="Calibri"/>
              </a:rPr>
              <a:t>KPU Provinsi Jawa Barat  •  Usulan Optimalisasi HNP TA 2026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11535" y="6556248"/>
            <a:ext cx="8686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E8A317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A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A317"/>
                </a:solidFill>
                <a:latin typeface="Calibri"/>
              </a:rPr>
              <a:t>APLIKASI BACK OFFICE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E2A47"/>
                </a:solidFill>
                <a:latin typeface="Calibri"/>
              </a:rPr>
              <a:t>SAE PISAN — Smart Attendance Event (e-Presensi)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89888"/>
            <a:ext cx="1371600" cy="38100"/>
          </a:xfrm>
          <a:prstGeom prst="rect">
            <a:avLst/>
          </a:prstGeom>
          <a:solidFill>
            <a:srgbClr val="E8A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27632"/>
            <a:ext cx="7050024" cy="397763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ae_pis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1700784"/>
            <a:ext cx="6903720" cy="388334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72" y="5650992"/>
            <a:ext cx="6903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1">
                <a:solidFill>
                  <a:srgbClr val="5C6B7A"/>
                </a:solidFill>
                <a:latin typeface="Calibri"/>
              </a:rPr>
              <a:t>Pratinjau dashboard back office — data ilustratif</a:t>
            </a:r>
          </a:p>
        </p:txBody>
      </p:sp>
      <p:sp>
        <p:nvSpPr>
          <p:cNvPr id="9" name="Oval 8"/>
          <p:cNvSpPr/>
          <p:nvPr/>
        </p:nvSpPr>
        <p:spPr>
          <a:xfrm>
            <a:off x="7726679" y="1773936"/>
            <a:ext cx="146304" cy="146304"/>
          </a:xfrm>
          <a:prstGeom prst="ellipse">
            <a:avLst/>
          </a:prstGeom>
          <a:solidFill>
            <a:srgbClr val="E8A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0999" y="1709928"/>
            <a:ext cx="36576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0E2A47"/>
                </a:solidFill>
                <a:latin typeface="Calibri"/>
              </a:rPr>
              <a:t>Check-in QR &lt; 3 detik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C6B7A"/>
                </a:solidFill>
                <a:latin typeface="Calibri"/>
              </a:rPr>
              <a:t>Anti-antre, anti-duplikat &amp; anti titip-absen, dengan validasi GPS opsional.</a:t>
            </a:r>
          </a:p>
        </p:txBody>
      </p:sp>
      <p:sp>
        <p:nvSpPr>
          <p:cNvPr id="11" name="Oval 10"/>
          <p:cNvSpPr/>
          <p:nvPr/>
        </p:nvSpPr>
        <p:spPr>
          <a:xfrm>
            <a:off x="7726679" y="2660904"/>
            <a:ext cx="146304" cy="146304"/>
          </a:xfrm>
          <a:prstGeom prst="ellipse">
            <a:avLst/>
          </a:prstGeom>
          <a:solidFill>
            <a:srgbClr val="E8A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999" y="2596896"/>
            <a:ext cx="36576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0E2A47"/>
                </a:solidFill>
                <a:latin typeface="Calibri"/>
              </a:rPr>
              <a:t>Real-time &amp; multi-gate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C6B7A"/>
                </a:solidFill>
                <a:latin typeface="Calibri"/>
              </a:rPr>
              <a:t>Kehadiran terpantau live; banyak pintu &amp; operator dalam satu link.</a:t>
            </a:r>
          </a:p>
        </p:txBody>
      </p:sp>
      <p:sp>
        <p:nvSpPr>
          <p:cNvPr id="13" name="Oval 12"/>
          <p:cNvSpPr/>
          <p:nvPr/>
        </p:nvSpPr>
        <p:spPr>
          <a:xfrm>
            <a:off x="7726679" y="3547872"/>
            <a:ext cx="146304" cy="146304"/>
          </a:xfrm>
          <a:prstGeom prst="ellipse">
            <a:avLst/>
          </a:prstGeom>
          <a:solidFill>
            <a:srgbClr val="E8A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0999" y="3483864"/>
            <a:ext cx="36576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0E2A47"/>
                </a:solidFill>
                <a:latin typeface="Calibri"/>
              </a:rPr>
              <a:t>Rekap otomatis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C6B7A"/>
                </a:solidFill>
                <a:latin typeface="Calibri"/>
              </a:rPr>
              <a:t>Export CSV/Excel/PDF — daftar hadir siap begitu acara usai.</a:t>
            </a:r>
          </a:p>
        </p:txBody>
      </p:sp>
      <p:sp>
        <p:nvSpPr>
          <p:cNvPr id="15" name="Oval 14"/>
          <p:cNvSpPr/>
          <p:nvPr/>
        </p:nvSpPr>
        <p:spPr>
          <a:xfrm>
            <a:off x="7726679" y="4434840"/>
            <a:ext cx="146304" cy="146304"/>
          </a:xfrm>
          <a:prstGeom prst="ellipse">
            <a:avLst/>
          </a:prstGeom>
          <a:solidFill>
            <a:srgbClr val="E8A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0999" y="4370832"/>
            <a:ext cx="36576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0E2A47"/>
                </a:solidFill>
                <a:latin typeface="Calibri"/>
              </a:rPr>
              <a:t>Mendukung Sosdiklih &amp; Rakor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C6B7A"/>
                </a:solidFill>
                <a:latin typeface="Calibri"/>
              </a:rPr>
              <a:t>Replikasi mudah di KPU Provinsi &amp; Kab/Kota — perkuat Keg 7 &amp; 9.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26679" y="5440680"/>
            <a:ext cx="3931920" cy="868680"/>
          </a:xfrm>
          <a:prstGeom prst="roundRect">
            <a:avLst>
              <a:gd name="adj" fmla="val 4500"/>
            </a:avLst>
          </a:prstGeom>
          <a:solidFill>
            <a:srgbClr val="0E2A47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79" y="553212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E8A317"/>
                </a:solidFill>
                <a:latin typeface="Calibri"/>
              </a:rPr>
              <a:t>▶  DEMO LANGSUNG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79" y="5815584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  <a:latin typeface="Calibri"/>
              </a:rPr>
              <a:t>yunikepuspita-sudo.github.io/sae-pisan/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6556248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C3D3E3"/>
                </a:solidFill>
                <a:latin typeface="Calibri"/>
              </a:rPr>
              <a:t>KPU Provinsi Jawa Barat  •  Usulan Optimalisasi HNP TA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11535" y="6556248"/>
            <a:ext cx="8686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E8A317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A3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FA38C"/>
                </a:solidFill>
                <a:latin typeface="Calibri"/>
              </a:rPr>
              <a:t>APLIKASI BACK OFFICE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E2A47"/>
                </a:solidFill>
                <a:latin typeface="Calibri"/>
              </a:rPr>
              <a:t>SIPANDU — Sistem Informasi Perjalanan Dinas Terpadu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89888"/>
            <a:ext cx="1371600" cy="38100"/>
          </a:xfrm>
          <a:prstGeom prst="rect">
            <a:avLst/>
          </a:prstGeom>
          <a:solidFill>
            <a:srgbClr val="1FA3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27632"/>
            <a:ext cx="7050024" cy="397763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ipand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1700784"/>
            <a:ext cx="6903720" cy="388334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72" y="5650992"/>
            <a:ext cx="6903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1">
                <a:solidFill>
                  <a:srgbClr val="5C6B7A"/>
                </a:solidFill>
                <a:latin typeface="Calibri"/>
              </a:rPr>
              <a:t>Pratinjau dashboard back office — data ilustratif</a:t>
            </a:r>
          </a:p>
        </p:txBody>
      </p:sp>
      <p:sp>
        <p:nvSpPr>
          <p:cNvPr id="9" name="Oval 8"/>
          <p:cNvSpPr/>
          <p:nvPr/>
        </p:nvSpPr>
        <p:spPr>
          <a:xfrm>
            <a:off x="7726679" y="1773936"/>
            <a:ext cx="146304" cy="146304"/>
          </a:xfrm>
          <a:prstGeom prst="ellipse">
            <a:avLst/>
          </a:prstGeom>
          <a:solidFill>
            <a:srgbClr val="1FA3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0999" y="1709928"/>
            <a:ext cx="36576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0E2A47"/>
                </a:solidFill>
                <a:latin typeface="Calibri"/>
              </a:rPr>
              <a:t>e-SPPD end-to-end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C6B7A"/>
                </a:solidFill>
                <a:latin typeface="Calibri"/>
              </a:rPr>
              <a:t>Pengajuan→persetujuan→Surat Tugas+QR→SPJ digital→pembayaran→arsip.</a:t>
            </a:r>
          </a:p>
        </p:txBody>
      </p:sp>
      <p:sp>
        <p:nvSpPr>
          <p:cNvPr id="11" name="Oval 10"/>
          <p:cNvSpPr/>
          <p:nvPr/>
        </p:nvSpPr>
        <p:spPr>
          <a:xfrm>
            <a:off x="7726679" y="2660904"/>
            <a:ext cx="146304" cy="146304"/>
          </a:xfrm>
          <a:prstGeom prst="ellipse">
            <a:avLst/>
          </a:prstGeom>
          <a:solidFill>
            <a:srgbClr val="1FA3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999" y="2596896"/>
            <a:ext cx="36576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0E2A47"/>
                </a:solidFill>
                <a:latin typeface="Calibri"/>
              </a:rPr>
              <a:t>Kalkulasi SBM otomatis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C6B7A"/>
                </a:solidFill>
                <a:latin typeface="Calibri"/>
              </a:rPr>
              <a:t>Mengurangi salah hitung &amp; ketidaksesuaian standar biaya.</a:t>
            </a:r>
          </a:p>
        </p:txBody>
      </p:sp>
      <p:sp>
        <p:nvSpPr>
          <p:cNvPr id="13" name="Oval 12"/>
          <p:cNvSpPr/>
          <p:nvPr/>
        </p:nvSpPr>
        <p:spPr>
          <a:xfrm>
            <a:off x="7726679" y="3547872"/>
            <a:ext cx="146304" cy="146304"/>
          </a:xfrm>
          <a:prstGeom prst="ellipse">
            <a:avLst/>
          </a:prstGeom>
          <a:solidFill>
            <a:srgbClr val="1FA3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0999" y="3483864"/>
            <a:ext cx="36576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0E2A47"/>
                </a:solidFill>
                <a:latin typeface="Calibri"/>
              </a:rPr>
              <a:t>Audit trail tak-terhapus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C6B7A"/>
                </a:solidFill>
                <a:latin typeface="Calibri"/>
              </a:rPr>
              <a:t>Deteksi duplikasi klaim, jejak audit kuat untuk BPK/Inspektorat.</a:t>
            </a:r>
          </a:p>
        </p:txBody>
      </p:sp>
      <p:sp>
        <p:nvSpPr>
          <p:cNvPr id="15" name="Oval 14"/>
          <p:cNvSpPr/>
          <p:nvPr/>
        </p:nvSpPr>
        <p:spPr>
          <a:xfrm>
            <a:off x="7726679" y="4434840"/>
            <a:ext cx="146304" cy="146304"/>
          </a:xfrm>
          <a:prstGeom prst="ellipse">
            <a:avLst/>
          </a:prstGeom>
          <a:solidFill>
            <a:srgbClr val="1FA3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0999" y="4370832"/>
            <a:ext cx="36576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0E2A47"/>
                </a:solidFill>
                <a:latin typeface="Calibri"/>
              </a:rPr>
              <a:t>Dashboard serapan real-time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C6B7A"/>
                </a:solidFill>
                <a:latin typeface="Calibri"/>
              </a:rPr>
              <a:t>Pagu, realisasi, komitmen &amp; sisa pagu DIPA — siap integrasi SAKTI.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26679" y="5440680"/>
            <a:ext cx="3931920" cy="868680"/>
          </a:xfrm>
          <a:prstGeom prst="roundRect">
            <a:avLst>
              <a:gd name="adj" fmla="val 4500"/>
            </a:avLst>
          </a:prstGeom>
          <a:solidFill>
            <a:srgbClr val="0E2A47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79" y="553212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FA38C"/>
                </a:solidFill>
                <a:latin typeface="Calibri"/>
              </a:rPr>
              <a:t>▶  DEMO LANGSUNG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79" y="5815584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  <a:latin typeface="Calibri"/>
              </a:rPr>
              <a:t>yunikepuspita-sudo.github.io/sisfo-sppd-kpu-jabar/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6556248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C3D3E3"/>
                </a:solidFill>
                <a:latin typeface="Calibri"/>
              </a:rPr>
              <a:t>KPU Provinsi Jawa Barat  •  Usulan Optimalisasi HNP TA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11535" y="6556248"/>
            <a:ext cx="8686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E8A317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E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6FB3"/>
                </a:solidFill>
                <a:latin typeface="Calibri"/>
              </a:rPr>
              <a:t>APLIKASI BACK OFFICE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E2A47"/>
                </a:solidFill>
                <a:latin typeface="Calibri"/>
              </a:rPr>
              <a:t>SIPLENO — Sistem Informasi Pleno KPU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89888"/>
            <a:ext cx="1371600" cy="38100"/>
          </a:xfrm>
          <a:prstGeom prst="rect">
            <a:avLst/>
          </a:prstGeom>
          <a:solidFill>
            <a:srgbClr val="2E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27632"/>
            <a:ext cx="7050024" cy="397763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iple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1700784"/>
            <a:ext cx="6903720" cy="388334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72" y="5650992"/>
            <a:ext cx="6903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1">
                <a:solidFill>
                  <a:srgbClr val="5C6B7A"/>
                </a:solidFill>
                <a:latin typeface="Calibri"/>
              </a:rPr>
              <a:t>Pratinjau dashboard back office — data ilustratif</a:t>
            </a:r>
          </a:p>
        </p:txBody>
      </p:sp>
      <p:sp>
        <p:nvSpPr>
          <p:cNvPr id="9" name="Oval 8"/>
          <p:cNvSpPr/>
          <p:nvPr/>
        </p:nvSpPr>
        <p:spPr>
          <a:xfrm>
            <a:off x="7726679" y="1773936"/>
            <a:ext cx="146304" cy="146304"/>
          </a:xfrm>
          <a:prstGeom prst="ellipse">
            <a:avLst/>
          </a:prstGeom>
          <a:solidFill>
            <a:srgbClr val="2E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0999" y="1709928"/>
            <a:ext cx="36576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0E2A47"/>
                </a:solidFill>
                <a:latin typeface="Calibri"/>
              </a:rPr>
              <a:t>Satu alur: undangan→arsip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C6B7A"/>
                </a:solidFill>
                <a:latin typeface="Calibri"/>
              </a:rPr>
              <a:t>9 tahap digital terhubung: presensi QR, kuorum otomatis, voting elektronik.</a:t>
            </a:r>
          </a:p>
        </p:txBody>
      </p:sp>
      <p:sp>
        <p:nvSpPr>
          <p:cNvPr id="11" name="Oval 10"/>
          <p:cNvSpPr/>
          <p:nvPr/>
        </p:nvSpPr>
        <p:spPr>
          <a:xfrm>
            <a:off x="7726679" y="2660904"/>
            <a:ext cx="146304" cy="146304"/>
          </a:xfrm>
          <a:prstGeom prst="ellipse">
            <a:avLst/>
          </a:prstGeom>
          <a:solidFill>
            <a:srgbClr val="2E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999" y="2596896"/>
            <a:ext cx="36576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0E2A47"/>
                </a:solidFill>
                <a:latin typeface="Calibri"/>
              </a:rPr>
              <a:t>Notulensi AI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C6B7A"/>
                </a:solidFill>
                <a:latin typeface="Calibri"/>
              </a:rPr>
              <a:t>Transkrip, ringkasan &amp; keputusan otomatis (Claude) — mode luring tetap penuh.</a:t>
            </a:r>
          </a:p>
        </p:txBody>
      </p:sp>
      <p:sp>
        <p:nvSpPr>
          <p:cNvPr id="13" name="Oval 12"/>
          <p:cNvSpPr/>
          <p:nvPr/>
        </p:nvSpPr>
        <p:spPr>
          <a:xfrm>
            <a:off x="7726679" y="3547872"/>
            <a:ext cx="146304" cy="146304"/>
          </a:xfrm>
          <a:prstGeom prst="ellipse">
            <a:avLst/>
          </a:prstGeom>
          <a:solidFill>
            <a:srgbClr val="2E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0999" y="3483864"/>
            <a:ext cx="36576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0E2A47"/>
                </a:solidFill>
                <a:latin typeface="Calibri"/>
              </a:rPr>
              <a:t>Berita Acara otomatis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C6B7A"/>
                </a:solidFill>
                <a:latin typeface="Calibri"/>
              </a:rPr>
              <a:t>Disusun dari jejak digital; TTE berjenjang (BSrE) — dari jam menjadi menit.</a:t>
            </a:r>
          </a:p>
        </p:txBody>
      </p:sp>
      <p:sp>
        <p:nvSpPr>
          <p:cNvPr id="15" name="Oval 14"/>
          <p:cNvSpPr/>
          <p:nvPr/>
        </p:nvSpPr>
        <p:spPr>
          <a:xfrm>
            <a:off x="7726679" y="4434840"/>
            <a:ext cx="146304" cy="146304"/>
          </a:xfrm>
          <a:prstGeom prst="ellipse">
            <a:avLst/>
          </a:prstGeom>
          <a:solidFill>
            <a:srgbClr val="2E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0999" y="4370832"/>
            <a:ext cx="36576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0E2A47"/>
                </a:solidFill>
                <a:latin typeface="Calibri"/>
              </a:rPr>
              <a:t>Arsip &amp; tindak lanjut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C6B7A"/>
                </a:solidFill>
                <a:latin typeface="Calibri"/>
              </a:rPr>
              <a:t>Repositori keputusan terlacak lintas rapat untuk monitoring pimpinan.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26679" y="5440680"/>
            <a:ext cx="3931920" cy="868680"/>
          </a:xfrm>
          <a:prstGeom prst="roundRect">
            <a:avLst>
              <a:gd name="adj" fmla="val 4500"/>
            </a:avLst>
          </a:prstGeom>
          <a:solidFill>
            <a:srgbClr val="0E2A47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79" y="553212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6FB3"/>
                </a:solidFill>
                <a:latin typeface="Calibri"/>
              </a:rPr>
              <a:t>▶  DEMO LANGSUNG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79" y="5815584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  <a:latin typeface="Calibri"/>
              </a:rPr>
              <a:t>yunikepuspita-sudo.github.io/rapat-pleno-kpu/  (akses internal)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6556248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C3D3E3"/>
                </a:solidFill>
                <a:latin typeface="Calibri"/>
              </a:rPr>
              <a:t>KPU Provinsi Jawa Barat  •  Usulan Optimalisasi HNP TA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11535" y="6556248"/>
            <a:ext cx="8686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E8A317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6C5CE7"/>
                </a:solidFill>
                <a:latin typeface="Calibri"/>
              </a:rPr>
              <a:t>APLIKASI BACK OFFICE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E2A47"/>
                </a:solidFill>
                <a:latin typeface="Calibri"/>
              </a:rPr>
              <a:t>RANCAGÉ — AI Planning Document Factory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89888"/>
            <a:ext cx="1371600" cy="3810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27632"/>
            <a:ext cx="7050024" cy="397763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anc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1700784"/>
            <a:ext cx="6903720" cy="388334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72" y="5650992"/>
            <a:ext cx="6903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1">
                <a:solidFill>
                  <a:srgbClr val="5C6B7A"/>
                </a:solidFill>
                <a:latin typeface="Calibri"/>
              </a:rPr>
              <a:t>Pratinjau dashboard back office — data ilustratif</a:t>
            </a:r>
          </a:p>
        </p:txBody>
      </p:sp>
      <p:sp>
        <p:nvSpPr>
          <p:cNvPr id="9" name="Oval 8"/>
          <p:cNvSpPr/>
          <p:nvPr/>
        </p:nvSpPr>
        <p:spPr>
          <a:xfrm>
            <a:off x="7726679" y="1773936"/>
            <a:ext cx="146304" cy="146304"/>
          </a:xfrm>
          <a:prstGeom prst="ellipse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0999" y="1709928"/>
            <a:ext cx="36576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0E2A47"/>
                </a:solidFill>
                <a:latin typeface="Calibri"/>
              </a:rPr>
              <a:t>Satu form → semua dokumen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C6B7A"/>
                </a:solidFill>
                <a:latin typeface="Calibri"/>
              </a:rPr>
              <a:t>ND, KAK, TOR, RAB, Jadwal, SK Tim, SPT &amp; Matriks Risiko otomatis.</a:t>
            </a:r>
          </a:p>
        </p:txBody>
      </p:sp>
      <p:sp>
        <p:nvSpPr>
          <p:cNvPr id="11" name="Oval 10"/>
          <p:cNvSpPr/>
          <p:nvPr/>
        </p:nvSpPr>
        <p:spPr>
          <a:xfrm>
            <a:off x="7726679" y="2660904"/>
            <a:ext cx="146304" cy="146304"/>
          </a:xfrm>
          <a:prstGeom prst="ellipse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999" y="2596896"/>
            <a:ext cx="36576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0E2A47"/>
                </a:solidFill>
                <a:latin typeface="Calibri"/>
              </a:rPr>
              <a:t>AI Budget Validator + BAS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C6B7A"/>
                </a:solidFill>
                <a:latin typeface="Calibri"/>
              </a:rPr>
              <a:t>Validasi SBM real-time, deteksi duplikasi, simulasi efisiensi (akun 51/52/53).</a:t>
            </a:r>
          </a:p>
        </p:txBody>
      </p:sp>
      <p:sp>
        <p:nvSpPr>
          <p:cNvPr id="13" name="Oval 12"/>
          <p:cNvSpPr/>
          <p:nvPr/>
        </p:nvSpPr>
        <p:spPr>
          <a:xfrm>
            <a:off x="7726679" y="3547872"/>
            <a:ext cx="146304" cy="146304"/>
          </a:xfrm>
          <a:prstGeom prst="ellipse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0999" y="3483864"/>
            <a:ext cx="36576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0E2A47"/>
                </a:solidFill>
                <a:latin typeface="Calibri"/>
              </a:rPr>
              <a:t>Persetujuan elektronik 6 jenjang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C6B7A"/>
                </a:solidFill>
                <a:latin typeface="Calibri"/>
              </a:rPr>
              <a:t>TTE (hash SHA-256 + QR), siap integrasi SRIKANDI &amp; e-Office.</a:t>
            </a:r>
          </a:p>
        </p:txBody>
      </p:sp>
      <p:sp>
        <p:nvSpPr>
          <p:cNvPr id="15" name="Oval 14"/>
          <p:cNvSpPr/>
          <p:nvPr/>
        </p:nvSpPr>
        <p:spPr>
          <a:xfrm>
            <a:off x="7726679" y="4434840"/>
            <a:ext cx="146304" cy="146304"/>
          </a:xfrm>
          <a:prstGeom prst="ellipse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0999" y="4370832"/>
            <a:ext cx="36576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0E2A47"/>
                </a:solidFill>
                <a:latin typeface="Calibri"/>
              </a:rPr>
              <a:t>Mendukung HNP &amp; APBN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C6B7A"/>
                </a:solidFill>
                <a:latin typeface="Calibri"/>
              </a:rPr>
              <a:t>Berbasis DIPA KPU Jabar 2026; offline-first, AI Copilot opsional.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26679" y="5440680"/>
            <a:ext cx="3931920" cy="868680"/>
          </a:xfrm>
          <a:prstGeom prst="roundRect">
            <a:avLst>
              <a:gd name="adj" fmla="val 4500"/>
            </a:avLst>
          </a:prstGeom>
          <a:solidFill>
            <a:srgbClr val="0E2A47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79" y="553212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6C5CE7"/>
                </a:solidFill>
                <a:latin typeface="Calibri"/>
              </a:rPr>
              <a:t>▶  DEMO LANGSUNG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79" y="5815584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  <a:latin typeface="Calibri"/>
              </a:rPr>
              <a:t>yunikepuspita-sudo.github.io/ReNamer-Pro/perencanaan-kpu/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6556248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C3D3E3"/>
                </a:solidFill>
                <a:latin typeface="Calibri"/>
              </a:rPr>
              <a:t>KPU Provinsi Jawa Barat  •  Usulan Optimalisasi HNP TA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11535" y="6556248"/>
            <a:ext cx="8686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E8A317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Calibri"/>
              </a:rPr>
              <a:t>APLIKASI BACK OFFICE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E2A47"/>
                </a:solidFill>
                <a:latin typeface="Calibri"/>
              </a:rPr>
              <a:t>PUSAKA — Pustaka Aspirasi Kebangsaan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89888"/>
            <a:ext cx="1371600" cy="3810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27632"/>
            <a:ext cx="7050024" cy="397763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usa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1700784"/>
            <a:ext cx="6903720" cy="388334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72" y="5650992"/>
            <a:ext cx="6903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1">
                <a:solidFill>
                  <a:srgbClr val="5C6B7A"/>
                </a:solidFill>
                <a:latin typeface="Calibri"/>
              </a:rPr>
              <a:t>Pratinjau dashboard back office — data ilustratif</a:t>
            </a:r>
          </a:p>
        </p:txBody>
      </p:sp>
      <p:sp>
        <p:nvSpPr>
          <p:cNvPr id="9" name="Oval 8"/>
          <p:cNvSpPr/>
          <p:nvPr/>
        </p:nvSpPr>
        <p:spPr>
          <a:xfrm>
            <a:off x="7726679" y="1773936"/>
            <a:ext cx="146304" cy="146304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0999" y="1709928"/>
            <a:ext cx="36576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0E2A47"/>
                </a:solidFill>
                <a:latin typeface="Calibri"/>
              </a:rPr>
              <a:t>Knowledge management (Keg 13)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C6B7A"/>
                </a:solidFill>
                <a:latin typeface="Calibri"/>
              </a:rPr>
              <a:t>Repositori literasi demokrasi &amp; pemilu dalam 8 tema terkurasi.</a:t>
            </a:r>
          </a:p>
        </p:txBody>
      </p:sp>
      <p:sp>
        <p:nvSpPr>
          <p:cNvPr id="11" name="Oval 10"/>
          <p:cNvSpPr/>
          <p:nvPr/>
        </p:nvSpPr>
        <p:spPr>
          <a:xfrm>
            <a:off x="7726679" y="2660904"/>
            <a:ext cx="146304" cy="146304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999" y="2596896"/>
            <a:ext cx="36576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0E2A47"/>
                </a:solidFill>
                <a:latin typeface="Calibri"/>
              </a:rPr>
              <a:t>Multi-platform &amp; OTA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C6B7A"/>
                </a:solidFill>
                <a:latin typeface="Calibri"/>
              </a:rPr>
              <a:t>Web (PWA), Android &amp; iOS; konten baru tersebar otomatis tanpa pasang ulang.</a:t>
            </a:r>
          </a:p>
        </p:txBody>
      </p:sp>
      <p:sp>
        <p:nvSpPr>
          <p:cNvPr id="13" name="Oval 12"/>
          <p:cNvSpPr/>
          <p:nvPr/>
        </p:nvSpPr>
        <p:spPr>
          <a:xfrm>
            <a:off x="7726679" y="3547872"/>
            <a:ext cx="146304" cy="146304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0999" y="3483864"/>
            <a:ext cx="36576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0E2A47"/>
                </a:solidFill>
                <a:latin typeface="Calibri"/>
              </a:rPr>
              <a:t>Pustaka AI (Claude)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C6B7A"/>
                </a:solidFill>
                <a:latin typeface="Calibri"/>
              </a:rPr>
              <a:t>Tanya-jawab &amp; pencarian cerdas berbasis katalog — pemilih cerdas.</a:t>
            </a:r>
          </a:p>
        </p:txBody>
      </p:sp>
      <p:sp>
        <p:nvSpPr>
          <p:cNvPr id="15" name="Oval 14"/>
          <p:cNvSpPr/>
          <p:nvPr/>
        </p:nvSpPr>
        <p:spPr>
          <a:xfrm>
            <a:off x="7726679" y="4434840"/>
            <a:ext cx="146304" cy="146304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0999" y="4370832"/>
            <a:ext cx="36576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0E2A47"/>
                </a:solidFill>
                <a:latin typeface="Calibri"/>
              </a:rPr>
              <a:t>Kanal resmi edukasi pemilih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C6B7A"/>
                </a:solidFill>
                <a:latin typeface="Calibri"/>
              </a:rPr>
              <a:t>Branding lembaga, statistik pembaca terukur, hemat biaya lintas perangkat.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26679" y="5440680"/>
            <a:ext cx="3931920" cy="868680"/>
          </a:xfrm>
          <a:prstGeom prst="roundRect">
            <a:avLst>
              <a:gd name="adj" fmla="val 4500"/>
            </a:avLst>
          </a:prstGeom>
          <a:solidFill>
            <a:srgbClr val="0E2A47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79" y="553212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Calibri"/>
              </a:rPr>
              <a:t>▶  DEMO LANGSUNG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79" y="5815584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  <a:latin typeface="Calibri"/>
              </a:rPr>
              <a:t>pustaka.yunikepuspita.com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6556248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C3D3E3"/>
                </a:solidFill>
                <a:latin typeface="Calibri"/>
              </a:rPr>
              <a:t>KPU Provinsi Jawa Barat  •  Usulan Optimalisasi HNP TA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11535" y="6556248"/>
            <a:ext cx="8686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E8A317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D64545"/>
                </a:solidFill>
                <a:latin typeface="Calibri"/>
              </a:rPr>
              <a:t>APLIKASI BACK OFFICE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E2A47"/>
                </a:solidFill>
                <a:latin typeface="Calibri"/>
              </a:rPr>
              <a:t>SEHAT — Health, Analytics &amp; Telemedicine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89888"/>
            <a:ext cx="1371600" cy="38100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27632"/>
            <a:ext cx="7050024" cy="397763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eh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1700784"/>
            <a:ext cx="6903720" cy="388334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72" y="5650992"/>
            <a:ext cx="6903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1">
                <a:solidFill>
                  <a:srgbClr val="5C6B7A"/>
                </a:solidFill>
                <a:latin typeface="Calibri"/>
              </a:rPr>
              <a:t>Pratinjau dashboard back office — data ilustratif</a:t>
            </a:r>
          </a:p>
        </p:txBody>
      </p:sp>
      <p:sp>
        <p:nvSpPr>
          <p:cNvPr id="9" name="Oval 8"/>
          <p:cNvSpPr/>
          <p:nvPr/>
        </p:nvSpPr>
        <p:spPr>
          <a:xfrm>
            <a:off x="7726679" y="1773936"/>
            <a:ext cx="146304" cy="146304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0999" y="1709928"/>
            <a:ext cx="36576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0E2A47"/>
                </a:solidFill>
                <a:latin typeface="Calibri"/>
              </a:rPr>
              <a:t>Kesehatan pegawai terpadu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C6B7A"/>
                </a:solidFill>
                <a:latin typeface="Calibri"/>
              </a:rPr>
              <a:t>8 kapabilitas: symptom checker AI, triage, fitness, mental, burnout, wellness.</a:t>
            </a:r>
          </a:p>
        </p:txBody>
      </p:sp>
      <p:sp>
        <p:nvSpPr>
          <p:cNvPr id="11" name="Oval 10"/>
          <p:cNvSpPr/>
          <p:nvPr/>
        </p:nvSpPr>
        <p:spPr>
          <a:xfrm>
            <a:off x="7726679" y="2660904"/>
            <a:ext cx="146304" cy="146304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999" y="2596896"/>
            <a:ext cx="36576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0E2A47"/>
                </a:solidFill>
                <a:latin typeface="Calibri"/>
              </a:rPr>
              <a:t>Deteksi dini burnout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C6B7A"/>
                </a:solidFill>
                <a:latin typeface="Calibri"/>
              </a:rPr>
              <a:t>Pantau beban lembur saat tahapan pemilu — jaga produktivitas &amp; ketahanan.</a:t>
            </a:r>
          </a:p>
        </p:txBody>
      </p:sp>
      <p:sp>
        <p:nvSpPr>
          <p:cNvPr id="13" name="Oval 12"/>
          <p:cNvSpPr/>
          <p:nvPr/>
        </p:nvSpPr>
        <p:spPr>
          <a:xfrm>
            <a:off x="7726679" y="3547872"/>
            <a:ext cx="146304" cy="146304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0999" y="3483864"/>
            <a:ext cx="36576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0E2A47"/>
                </a:solidFill>
                <a:latin typeface="Calibri"/>
              </a:rPr>
              <a:t>Analitik 100% anonim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C6B7A"/>
                </a:solidFill>
                <a:latin typeface="Calibri"/>
              </a:rPr>
              <a:t>Workforce &amp; Organizational Health Index untuk kebijakan SDM berbasis data.</a:t>
            </a:r>
          </a:p>
        </p:txBody>
      </p:sp>
      <p:sp>
        <p:nvSpPr>
          <p:cNvPr id="15" name="Oval 14"/>
          <p:cNvSpPr/>
          <p:nvPr/>
        </p:nvSpPr>
        <p:spPr>
          <a:xfrm>
            <a:off x="7726679" y="4434840"/>
            <a:ext cx="146304" cy="146304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0999" y="4370832"/>
            <a:ext cx="36576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0E2A47"/>
                </a:solidFill>
                <a:latin typeface="Calibri"/>
              </a:rPr>
              <a:t>Privacy-by-design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C6B7A"/>
                </a:solidFill>
                <a:latin typeface="Calibri"/>
              </a:rPr>
              <a:t>Diproses lokal, AES-256, RBAC+SSO, selaras UU PDP — biaya minimal ($0 build).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26679" y="5440680"/>
            <a:ext cx="3931920" cy="868680"/>
          </a:xfrm>
          <a:prstGeom prst="roundRect">
            <a:avLst>
              <a:gd name="adj" fmla="val 4500"/>
            </a:avLst>
          </a:prstGeom>
          <a:solidFill>
            <a:srgbClr val="0E2A47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79" y="553212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D64545"/>
                </a:solidFill>
                <a:latin typeface="Calibri"/>
              </a:rPr>
              <a:t>▶  DEMO LANGSUNG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79" y="5815584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  <a:latin typeface="Calibri"/>
              </a:rPr>
              <a:t>Prototipe PWA — pilot unit terpilih (decision-support, bukan diagnosis)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6556248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C3D3E3"/>
                </a:solidFill>
                <a:latin typeface="Calibri"/>
              </a:rPr>
              <a:t>KPU Provinsi Jawa Barat  •  Usulan Optimalisasi HNP TA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11535" y="6556248"/>
            <a:ext cx="8686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E8A317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A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A317"/>
                </a:solidFill>
                <a:latin typeface="Calibri"/>
              </a:rPr>
              <a:t>PENGUATAN BACK OFFICE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E2A47"/>
                </a:solidFill>
                <a:latin typeface="Calibri"/>
              </a:rPr>
              <a:t>Mengapa Investasi Back Office Mendesak &amp; Berdampak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89888"/>
            <a:ext cx="1371600" cy="38100"/>
          </a:xfrm>
          <a:prstGeom prst="rect">
            <a:avLst/>
          </a:prstGeom>
          <a:solidFill>
            <a:srgbClr val="E8A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486400" cy="45262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5486400" cy="502920"/>
          </a:xfrm>
          <a:prstGeom prst="roundRect">
            <a:avLst/>
          </a:prstGeom>
          <a:solidFill>
            <a:srgbClr val="1FA3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664208"/>
            <a:ext cx="5029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Efisiensi &amp; Akuntabilitas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53912" y="1645920"/>
            <a:ext cx="5486400" cy="45262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53912" y="1645920"/>
            <a:ext cx="5486400" cy="502920"/>
          </a:xfrm>
          <a:prstGeom prst="round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82512" y="1664208"/>
            <a:ext cx="5029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Ketahanan &amp; Memori Institusi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2423160"/>
            <a:ext cx="146304" cy="146304"/>
          </a:xfrm>
          <a:prstGeom prst="ellipse">
            <a:avLst/>
          </a:prstGeom>
          <a:solidFill>
            <a:srgbClr val="1FA3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2359152"/>
            <a:ext cx="46634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0E2A47"/>
                </a:solidFill>
                <a:latin typeface="Calibri"/>
              </a:rPr>
              <a:t>Dari berhari-hari → menit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 i="0">
                <a:solidFill>
                  <a:srgbClr val="5C6B7A"/>
                </a:solidFill>
                <a:latin typeface="Calibri"/>
              </a:rPr>
              <a:t>Dokumen perencanaan, SPPD &amp; berita acara dirakit otomatis dari data, bukan diketik ulang.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666744"/>
            <a:ext cx="146304" cy="146304"/>
          </a:xfrm>
          <a:prstGeom prst="ellipse">
            <a:avLst/>
          </a:prstGeom>
          <a:solidFill>
            <a:srgbClr val="1FA3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02736"/>
            <a:ext cx="46634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0E2A47"/>
                </a:solidFill>
                <a:latin typeface="Calibri"/>
              </a:rPr>
              <a:t>Compliance by design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 i="0">
                <a:solidFill>
                  <a:srgbClr val="5C6B7A"/>
                </a:solidFill>
                <a:latin typeface="Calibri"/>
              </a:rPr>
              <a:t>Validasi SBM, deteksi duplikasi &amp; audit trail menekan risiko temuan BPK/Inspektorat.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4910328"/>
            <a:ext cx="146304" cy="146304"/>
          </a:xfrm>
          <a:prstGeom prst="ellipse">
            <a:avLst/>
          </a:prstGeom>
          <a:solidFill>
            <a:srgbClr val="1FA3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4846320"/>
            <a:ext cx="46634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0E2A47"/>
                </a:solidFill>
                <a:latin typeface="Calibri"/>
              </a:rPr>
              <a:t>Keputusan berbasis data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 i="0">
                <a:solidFill>
                  <a:srgbClr val="5C6B7A"/>
                </a:solidFill>
                <a:latin typeface="Calibri"/>
              </a:rPr>
              <a:t>Dashboard real-time serapan anggaran, kehadiran, kuorum &amp; kesehatan organisasi untuk pimpinan.</a:t>
            </a:r>
          </a:p>
        </p:txBody>
      </p:sp>
      <p:sp>
        <p:nvSpPr>
          <p:cNvPr id="18" name="Oval 17"/>
          <p:cNvSpPr/>
          <p:nvPr/>
        </p:nvSpPr>
        <p:spPr>
          <a:xfrm>
            <a:off x="6382512" y="2423160"/>
            <a:ext cx="146304" cy="146304"/>
          </a:xfrm>
          <a:prstGeom prst="ellipse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56832" y="2359152"/>
            <a:ext cx="46634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0E2A47"/>
                </a:solidFill>
                <a:latin typeface="Calibri"/>
              </a:rPr>
              <a:t>Memori institusi terjaga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 i="0">
                <a:solidFill>
                  <a:srgbClr val="5C6B7A"/>
                </a:solidFill>
                <a:latin typeface="Calibri"/>
              </a:rPr>
              <a:t>PUSAKA &amp; arsip elektronik merekam pengetahuan agar tidak hilang pasca tahapan besar.</a:t>
            </a:r>
          </a:p>
        </p:txBody>
      </p:sp>
      <p:sp>
        <p:nvSpPr>
          <p:cNvPr id="20" name="Oval 19"/>
          <p:cNvSpPr/>
          <p:nvPr/>
        </p:nvSpPr>
        <p:spPr>
          <a:xfrm>
            <a:off x="6382512" y="3666744"/>
            <a:ext cx="146304" cy="146304"/>
          </a:xfrm>
          <a:prstGeom prst="ellipse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56832" y="3602736"/>
            <a:ext cx="46634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0E2A47"/>
                </a:solidFill>
                <a:latin typeface="Calibri"/>
              </a:rPr>
              <a:t>Hemat &amp; nirkertas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 i="0">
                <a:solidFill>
                  <a:srgbClr val="5C6B7A"/>
                </a:solidFill>
                <a:latin typeface="Calibri"/>
              </a:rPr>
              <a:t>PWA tanpa lisensi mahal, offline-first, hosting ringan — mendukung green office &amp; SPBE.</a:t>
            </a:r>
          </a:p>
        </p:txBody>
      </p:sp>
      <p:sp>
        <p:nvSpPr>
          <p:cNvPr id="22" name="Oval 21"/>
          <p:cNvSpPr/>
          <p:nvPr/>
        </p:nvSpPr>
        <p:spPr>
          <a:xfrm>
            <a:off x="6382512" y="4910328"/>
            <a:ext cx="146304" cy="146304"/>
          </a:xfrm>
          <a:prstGeom prst="ellipse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56832" y="4846320"/>
            <a:ext cx="46634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0E2A47"/>
                </a:solidFill>
                <a:latin typeface="Calibri"/>
              </a:rPr>
              <a:t>SDM tangguh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 i="0">
                <a:solidFill>
                  <a:srgbClr val="5C6B7A"/>
                </a:solidFill>
                <a:latin typeface="Calibri"/>
              </a:rPr>
              <a:t>SEHAT menjaga kesejahteraan &amp; menekan burnout saat beban tahapan memuncak.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6556248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C3D3E3"/>
                </a:solidFill>
                <a:latin typeface="Calibri"/>
              </a:rPr>
              <a:t>KPU Provinsi Jawa Barat  •  Usulan Optimalisasi HNP TA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11535" y="6556248"/>
            <a:ext cx="8686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E8A317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A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Calibri"/>
              </a:rPr>
              <a:t>ARGUMENTASI PERSETUJUAN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Mengapa Dapat Segera Dieksekusi oleh KPA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371600" cy="3810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3566160" cy="2011680"/>
          </a:xfrm>
          <a:prstGeom prst="roundRect">
            <a:avLst>
              <a:gd name="adj" fmla="val 4500"/>
            </a:avLst>
          </a:prstGeom>
          <a:solidFill>
            <a:srgbClr val="14365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86384" y="2002536"/>
            <a:ext cx="457200" cy="457200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198424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020824"/>
            <a:ext cx="26060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Kebutuhan sudah terinci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624328"/>
            <a:ext cx="3108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B9CBDD"/>
                </a:solidFill>
                <a:latin typeface="Calibri"/>
              </a:rPr>
              <a:t>RAB memuat volume, satuan, frekuensi &amp; harga satuan sampai grand total Rp4.280.717.000 — basis keputusan operasional.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783080"/>
            <a:ext cx="3566160" cy="2011680"/>
          </a:xfrm>
          <a:prstGeom prst="roundRect">
            <a:avLst>
              <a:gd name="adj" fmla="val 4500"/>
            </a:avLst>
          </a:prstGeom>
          <a:solidFill>
            <a:srgbClr val="14365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81144" y="2002536"/>
            <a:ext cx="457200" cy="457200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81144" y="198424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66360" y="2020824"/>
            <a:ext cx="26060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Ada item layanan langsung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9432" y="2624328"/>
            <a:ext cx="3108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B9CBDD"/>
                </a:solidFill>
                <a:latin typeface="Calibri"/>
              </a:rPr>
              <a:t>Sosdiklih, FGD, rakor, pemeliharaan kendaraan, helpdesk &amp; dukungan sistem berdampak langsung pada output.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783080"/>
            <a:ext cx="3566160" cy="2011680"/>
          </a:xfrm>
          <a:prstGeom prst="roundRect">
            <a:avLst>
              <a:gd name="adj" fmla="val 4500"/>
            </a:avLst>
          </a:prstGeom>
          <a:solidFill>
            <a:srgbClr val="14365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75904" y="2002536"/>
            <a:ext cx="457200" cy="457200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75904" y="198424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0" y="2020824"/>
            <a:ext cx="26060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KPA punya ruang kendali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94192" y="2624328"/>
            <a:ext cx="3108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B9CBDD"/>
                </a:solidFill>
                <a:latin typeface="Calibri"/>
              </a:rPr>
              <a:t>Memimpin prioritisasi, pengemasan tahapan &amp; pengendalian output; item siap segera dijalankan.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977639"/>
            <a:ext cx="3566160" cy="2011680"/>
          </a:xfrm>
          <a:prstGeom prst="roundRect">
            <a:avLst>
              <a:gd name="adj" fmla="val 4500"/>
            </a:avLst>
          </a:prstGeom>
          <a:solidFill>
            <a:srgbClr val="14365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86384" y="4197095"/>
            <a:ext cx="457200" cy="457200"/>
          </a:xfrm>
          <a:prstGeom prst="ellipse">
            <a:avLst/>
          </a:prstGeom>
          <a:solidFill>
            <a:srgbClr val="E8A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6384" y="417880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215383"/>
            <a:ext cx="26060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Bukan menunggu sempurna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4818887"/>
            <a:ext cx="3108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B9CBDD"/>
                </a:solidFill>
                <a:latin typeface="Calibri"/>
              </a:rPr>
              <a:t>Menunggu seluruh aspek ideal → layanan terhenti, sarpras menurun, momentum digital &amp; dokumentasi terlewat.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43400" y="3977639"/>
            <a:ext cx="3566160" cy="2011680"/>
          </a:xfrm>
          <a:prstGeom prst="roundRect">
            <a:avLst>
              <a:gd name="adj" fmla="val 4500"/>
            </a:avLst>
          </a:prstGeom>
          <a:solidFill>
            <a:srgbClr val="14365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581144" y="4197095"/>
            <a:ext cx="457200" cy="457200"/>
          </a:xfrm>
          <a:prstGeom prst="ellipse">
            <a:avLst/>
          </a:prstGeom>
          <a:solidFill>
            <a:srgbClr val="2E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81144" y="417880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66360" y="4215383"/>
            <a:ext cx="26060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Bisa dimulai bertahap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99432" y="4818887"/>
            <a:ext cx="3108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B9CBDD"/>
                </a:solidFill>
                <a:latin typeface="Calibri"/>
              </a:rPr>
              <a:t>Persetujuan prinsip untuk eksekusi bertahap: layanan → operasional → digital → knowledge management.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38160" y="3977639"/>
            <a:ext cx="3566160" cy="2011680"/>
          </a:xfrm>
          <a:prstGeom prst="roundRect">
            <a:avLst>
              <a:gd name="adj" fmla="val 4500"/>
            </a:avLst>
          </a:prstGeom>
          <a:solidFill>
            <a:srgbClr val="14365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375904" y="4197095"/>
            <a:ext cx="457200" cy="457200"/>
          </a:xfrm>
          <a:prstGeom prst="ellipse">
            <a:avLst/>
          </a:prstGeom>
          <a:solidFill>
            <a:srgbClr val="1FA3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75904" y="417880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61120" y="4215383"/>
            <a:ext cx="26060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Tetap dalam pengendalian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94192" y="4818887"/>
            <a:ext cx="3108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B9CBDD"/>
                </a:solidFill>
                <a:latin typeface="Calibri"/>
              </a:rPr>
              <a:t>Disertai kontrol KPA: TOR final, verifikasi kebutuhan, penyesuaian paket &amp; monitoring output per kegiatan.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56248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C3D3E3"/>
                </a:solidFill>
                <a:latin typeface="Calibri"/>
              </a:rPr>
              <a:t>KPU Provinsi Jawa Barat  •  Usulan Optimalisasi HNP TA 2026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11535" y="6556248"/>
            <a:ext cx="8686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E8A317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E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6FB3"/>
                </a:solidFill>
                <a:latin typeface="Calibri"/>
              </a:rPr>
              <a:t>SKEMA KEPUTUSAN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E2A47"/>
                </a:solidFill>
                <a:latin typeface="Calibri"/>
              </a:rPr>
              <a:t>Yang Dimohonkan Disetujui Pimpinan Hari Ini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89888"/>
            <a:ext cx="1371600" cy="38100"/>
          </a:xfrm>
          <a:prstGeom prst="rect">
            <a:avLst/>
          </a:prstGeom>
          <a:solidFill>
            <a:srgbClr val="2E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486400" cy="45262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5486400" cy="502920"/>
          </a:xfrm>
          <a:prstGeom prst="roundRect">
            <a:avLst/>
          </a:prstGeom>
          <a:solidFill>
            <a:srgbClr val="2E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664208"/>
            <a:ext cx="5029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4 Persetujuan yang Dimohonkan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2423160"/>
            <a:ext cx="457200" cy="457200"/>
          </a:xfrm>
          <a:prstGeom prst="ellipse">
            <a:avLst/>
          </a:prstGeom>
          <a:solidFill>
            <a:srgbClr val="2E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2404872"/>
            <a:ext cx="44348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0E2A47"/>
                </a:solidFill>
                <a:latin typeface="Calibri"/>
              </a:rPr>
              <a:t>Persetujuan PRINSIP atas usulan HNP kegiatan 7–13 sebesar Rp4.280.717.000.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3355848"/>
            <a:ext cx="457200" cy="457200"/>
          </a:xfrm>
          <a:prstGeom prst="ellipse">
            <a:avLst/>
          </a:prstGeom>
          <a:solidFill>
            <a:srgbClr val="2E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35584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3337560"/>
            <a:ext cx="44348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0E2A47"/>
                </a:solidFill>
                <a:latin typeface="Calibri"/>
              </a:rPr>
              <a:t>Persetujuan PERCEPATAN pelaksanaan atas item yang siap eksekusi oleh KPA.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4288536"/>
            <a:ext cx="457200" cy="457200"/>
          </a:xfrm>
          <a:prstGeom prst="ellipse">
            <a:avLst/>
          </a:prstGeom>
          <a:solidFill>
            <a:srgbClr val="2E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28853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4270248"/>
            <a:ext cx="44348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0E2A47"/>
                </a:solidFill>
                <a:latin typeface="Calibri"/>
              </a:rPr>
              <a:t>Persetujuan PENGENDALIAN BERTAHAP berdasarkan prioritas layanan, operasional &amp; digitalisasi.</a:t>
            </a:r>
          </a:p>
        </p:txBody>
      </p:sp>
      <p:sp>
        <p:nvSpPr>
          <p:cNvPr id="18" name="Oval 17"/>
          <p:cNvSpPr/>
          <p:nvPr/>
        </p:nvSpPr>
        <p:spPr>
          <a:xfrm>
            <a:off x="822960" y="5221224"/>
            <a:ext cx="457200" cy="457200"/>
          </a:xfrm>
          <a:prstGeom prst="ellipse">
            <a:avLst/>
          </a:prstGeom>
          <a:solidFill>
            <a:srgbClr val="2E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22122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5202936"/>
            <a:ext cx="44348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0E2A47"/>
                </a:solidFill>
                <a:latin typeface="Calibri"/>
              </a:rPr>
              <a:t>Persetujuan MONITORING berkala agar realisasi tetap akuntabel &amp; terukur.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53912" y="1645920"/>
            <a:ext cx="5486400" cy="45262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53912" y="1645920"/>
            <a:ext cx="5486400" cy="502920"/>
          </a:xfrm>
          <a:prstGeom prst="round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82512" y="1664208"/>
            <a:ext cx="5029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Urutan Prioritas Eksekusi Bertahap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82512" y="2441448"/>
            <a:ext cx="109728" cy="777240"/>
          </a:xfrm>
          <a:prstGeom prst="rect">
            <a:avLst/>
          </a:prstGeom>
          <a:solidFill>
            <a:srgbClr val="1FA3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29400" y="2395728"/>
            <a:ext cx="1371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1FA38C"/>
                </a:solidFill>
                <a:latin typeface="Calibri"/>
              </a:rPr>
              <a:t>Tahap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5C6B7A"/>
                </a:solidFill>
                <a:latin typeface="Calibri"/>
              </a:rPr>
              <a:t>Keg 7–9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01000" y="2395728"/>
            <a:ext cx="35204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 i="0">
                <a:solidFill>
                  <a:srgbClr val="0E2A47"/>
                </a:solidFill>
                <a:latin typeface="Calibri"/>
              </a:rPr>
              <a:t>Layanan pendidikan pemilih &amp; koordinasi (Sosdiklih, FGD, rakor) — SAE PISAN.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82512" y="3355848"/>
            <a:ext cx="109728" cy="777240"/>
          </a:xfrm>
          <a:prstGeom prst="rect">
            <a:avLst/>
          </a:prstGeom>
          <a:solidFill>
            <a:srgbClr val="E8A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29400" y="3310128"/>
            <a:ext cx="1371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E8A317"/>
                </a:solidFill>
                <a:latin typeface="Calibri"/>
              </a:rPr>
              <a:t>Tahap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5C6B7A"/>
                </a:solidFill>
                <a:latin typeface="Calibri"/>
              </a:rPr>
              <a:t>Keg 10–11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0" y="3310128"/>
            <a:ext cx="35204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 i="0">
                <a:solidFill>
                  <a:srgbClr val="0E2A47"/>
                </a:solidFill>
                <a:latin typeface="Calibri"/>
              </a:rPr>
              <a:t>Dukungan operasional: kendaraan dinas &amp; jasa profesi.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82512" y="4270248"/>
            <a:ext cx="109728" cy="777240"/>
          </a:xfrm>
          <a:prstGeom prst="rect">
            <a:avLst/>
          </a:prstGeom>
          <a:solidFill>
            <a:srgbClr val="2E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29400" y="4224528"/>
            <a:ext cx="1371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2E6FB3"/>
                </a:solidFill>
                <a:latin typeface="Calibri"/>
              </a:rPr>
              <a:t>Tahap 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5C6B7A"/>
                </a:solidFill>
                <a:latin typeface="Calibri"/>
              </a:rPr>
              <a:t>Keg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01000" y="4224528"/>
            <a:ext cx="35204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 i="0">
                <a:solidFill>
                  <a:srgbClr val="0E2A47"/>
                </a:solidFill>
                <a:latin typeface="Calibri"/>
              </a:rPr>
              <a:t>Percepatan administrasi digital: RANCAGÉ, SIPANDU, SIPLENO &amp; dashboard.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5184648"/>
            <a:ext cx="109728" cy="77724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29400" y="5138928"/>
            <a:ext cx="1371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6C5CE7"/>
                </a:solidFill>
                <a:latin typeface="Calibri"/>
              </a:rPr>
              <a:t>Tahap 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5C6B7A"/>
                </a:solidFill>
                <a:latin typeface="Calibri"/>
              </a:rPr>
              <a:t>Keg 13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1000" y="5138928"/>
            <a:ext cx="35204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 i="0">
                <a:solidFill>
                  <a:srgbClr val="0E2A47"/>
                </a:solidFill>
                <a:latin typeface="Calibri"/>
              </a:rPr>
              <a:t>Penguatan memori institusi &amp; diseminasi: PUSAKA + (SEHAT pilot).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56248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C3D3E3"/>
                </a:solidFill>
                <a:latin typeface="Calibri"/>
              </a:rPr>
              <a:t>KPU Provinsi Jawa Barat  •  Usulan Optimalisasi HNP TA 2026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11535" y="6556248"/>
            <a:ext cx="8686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E8A317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A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8A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FA3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7"/>
                </a:solidFill>
                <a:latin typeface="Calibri"/>
              </a:rPr>
              <a:t>PENUTUP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6984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0" i="0">
                <a:solidFill>
                  <a:srgbClr val="FFFFFF"/>
                </a:solidFill>
                <a:latin typeface="Calibri"/>
              </a:rPr>
              <a:t>Yang kami minta bukan sekadar anggaran 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tetapi izin menjaga kinerja kelembagaan tetap hidup.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880360"/>
            <a:ext cx="106070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CFDCEA"/>
                </a:solidFill>
                <a:latin typeface="Calibri"/>
              </a:rPr>
              <a:t>Dengan persetujuan pimpinan hari ini, KPA dapat segera mengeksekusi kebutuhan yang nyata, terukur, dan berdampak langsung bagi layanan, tata kelola, dan penguatan institusi KPU Provinsi Jawa Barat.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77639"/>
            <a:ext cx="10725912" cy="1874519"/>
          </a:xfrm>
          <a:prstGeom prst="roundRect">
            <a:avLst>
              <a:gd name="adj" fmla="val 4500"/>
            </a:avLst>
          </a:prstGeom>
          <a:solidFill>
            <a:srgbClr val="14365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1148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A317"/>
                </a:solidFill>
                <a:latin typeface="Calibri"/>
              </a:rPr>
              <a:t>AKSES DEMO &amp; DASHBOARD BACK OFFICE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498848"/>
            <a:ext cx="141732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SAE PISAN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23160" y="4498848"/>
            <a:ext cx="38404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8FC9E8"/>
                </a:solidFill>
                <a:latin typeface="Calibri"/>
              </a:rPr>
              <a:t>yunikepuspita-sudo.github.io/sae-pisan/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4498848"/>
            <a:ext cx="141732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SIPANDU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4498848"/>
            <a:ext cx="38404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8FC9E8"/>
                </a:solidFill>
                <a:latin typeface="Calibri"/>
              </a:rPr>
              <a:t>yunikepuspita-sudo.github.io/sisfo-sppd-kpu-jabar/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910328"/>
            <a:ext cx="141732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SIPLENO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4910328"/>
            <a:ext cx="38404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8FC9E8"/>
                </a:solidFill>
                <a:latin typeface="Calibri"/>
              </a:rPr>
              <a:t>yunikepuspita-sudo.github.io/rapat-pleno-kpu/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4910328"/>
            <a:ext cx="141732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RANCAGÉ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4910328"/>
            <a:ext cx="38404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8FC9E8"/>
                </a:solidFill>
                <a:latin typeface="Calibri"/>
              </a:rPr>
              <a:t>yunikepuspita-sudo.github.io/ReNamer-Pro/perencanaan-kpu/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321808"/>
            <a:ext cx="141732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PUSAKA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23160" y="5321808"/>
            <a:ext cx="38404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8FC9E8"/>
                </a:solidFill>
                <a:latin typeface="Calibri"/>
              </a:rPr>
              <a:t>pustaka.yunikepuspita.com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5321808"/>
            <a:ext cx="141732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SEHAT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5321808"/>
            <a:ext cx="38404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8FC9E8"/>
                </a:solidFill>
                <a:latin typeface="Calibri"/>
              </a:rPr>
              <a:t>Prototipe PWA — pilot unit terpilih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053328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9DB4CC"/>
                </a:solidFill>
                <a:latin typeface="Calibri"/>
              </a:rPr>
              <a:t>Mohon arahan &amp; persetujuan pimpinan agar usulan HNP Rp4,28 M dapat segera dieksekusi bertahap di bawah kendali KPA.  •  yunike.puspita@gmail.com  •  0896-1706-1983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